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7F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390" y="0"/>
            <a:ext cx="6096304" cy="73152"/>
          </a:xfrm>
          <a:prstGeom prst="rect">
            <a:avLst/>
          </a:prstGeom>
          <a:solidFill>
            <a:srgbClr val="8C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640080"/>
            <a:ext cx="3474720" cy="32004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D7FF3A"/>
                </a:solidFill>
                <a:latin typeface="Consolas"/>
              </a:defRPr>
            </a:pPr>
            <a:r>
              <a:t>THAILAND DIGITAL KNOWLEDGE INITIATIVE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5669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111827"/>
                </a:solidFill>
                <a:latin typeface="Segoe UI"/>
              </a:defRPr>
            </a:pPr>
            <a:r>
              <a:t>GRURU MUSEUM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5740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8C6BFF"/>
                </a:solidFill>
                <a:latin typeface="Leelawadee UI"/>
              </a:defRPr>
            </a:pPr>
            <a:r>
              <a:t>พิพิธภัณฑ์ความรู้ดิจิทัลแห่งชาติ: โครงการจัดตั้งโครงสร้างพื้นฐานความรู้และกราฟปัญญาประดิษฐ์เพื่อคนไทย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017520"/>
            <a:ext cx="5486400" cy="1188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5A1F"/>
                </a:solidFill>
                <a:latin typeface="Segoe UI"/>
              </a:defRPr>
            </a:pPr>
            <a:r>
              <a:t>“New Knowledge. New Storytelling. Built for Everyday Living.”</a:t>
            </a:r>
          </a:p>
          <a:p>
            <a:pPr>
              <a:defRPr sz="1150">
                <a:solidFill>
                  <a:srgbClr val="55556A"/>
                </a:solidFill>
                <a:latin typeface="Leelawadee UI"/>
              </a:defRPr>
            </a:pPr>
            <a:r>
              <a:t>คอนเซปต์ Future Archaeology (ห้องแล็บของนักโบราณคดีจากอนาคต) พลิก 'อดีตคือข้อมูล อนาคตคือเรื่องเล่า' ผสานความนิ่งแบบ Modern Art กับความล้ำแบบ Sci-Fi Lab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389120"/>
            <a:ext cx="5486400" cy="173736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D7FF3A"/>
                </a:solidFill>
                <a:latin typeface="Consolas"/>
              </a:defRPr>
            </a:pPr>
            <a:r>
              <a:t>นำเสนอต่อ:</a:t>
            </a:r>
          </a:p>
          <a:p>
            <a:pPr>
              <a:defRPr sz="1400" b="1">
                <a:solidFill>
                  <a:srgbClr val="FFFFFF"/>
                </a:solidFill>
                <a:latin typeface="Leelawadee UI"/>
              </a:defRPr>
            </a:pPr>
            <a:r>
              <a:t>ฯพณฯ รัฐมนตรีว่าการกระทรวงดิจิทัลเพื่อเศรษฐกิจและสังคม</a:t>
            </a:r>
          </a:p>
          <a:p>
            <a:pPr>
              <a:defRPr sz="1100">
                <a:solidFill>
                  <a:srgbClr val="CBD5E1"/>
                </a:solidFill>
                <a:latin typeface="Leelawadee UI"/>
              </a:defRPr>
            </a:pPr>
            <a:r>
              <a:t>หัวข้อ: การขับเคลื่อน National Knowledge Graph &amp; Data Booming เพื่อการเรียนรู้และ Sovereign AI</a:t>
            </a:r>
          </a:p>
        </p:txBody>
      </p:sp>
      <p:pic>
        <p:nvPicPr>
          <p:cNvPr id="10" name="Picture 9" descr="gruru_future_archaeology_17915302044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731520"/>
            <a:ext cx="4937760" cy="384048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492240" y="4709160"/>
            <a:ext cx="4937760" cy="1417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gruru_logo_thai_179153018301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4800600"/>
            <a:ext cx="1234440" cy="123444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046720" y="4800600"/>
            <a:ext cx="32004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8C6BFF"/>
                </a:solidFill>
                <a:latin typeface="Consolas"/>
              </a:defRPr>
            </a:pPr>
            <a:r>
              <a:t>OFFICIAL EMBLEM</a:t>
            </a:r>
          </a:p>
          <a:p>
            <a:pPr>
              <a:defRPr sz="1200" b="1">
                <a:solidFill>
                  <a:srgbClr val="111827"/>
                </a:solidFill>
                <a:latin typeface="Leelawadee UI"/>
              </a:defRPr>
            </a:pPr>
            <a:r>
              <a:t>ตราสัญลักษณ์ GRURU MUSEUM</a:t>
            </a:r>
          </a:p>
          <a:p>
            <a:pPr>
              <a:defRPr sz="1000">
                <a:solidFill>
                  <a:srgbClr val="55556A"/>
                </a:solidFill>
                <a:latin typeface="Leelawadee UI"/>
              </a:defRPr>
            </a:pPr>
            <a:r>
              <a:t>ผสานลายไทย 'ประจำยาม &amp; กนก' เข้ากับโครงข่ายประสาทความรู้ดิจิทัล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7F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390" y="0"/>
            <a:ext cx="6096304" cy="73152"/>
          </a:xfrm>
          <a:prstGeom prst="rect">
            <a:avLst/>
          </a:prstGeom>
          <a:solidFill>
            <a:srgbClr val="8C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320040"/>
            <a:ext cx="2926080" cy="292608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D7FF3A"/>
                </a:solidFill>
                <a:latin typeface="Consolas"/>
              </a:defRPr>
            </a:pPr>
            <a:r>
              <a:t>SPECIMEN // GRM-2026-EXEC-001 • EXECUTIVE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827"/>
                </a:solidFill>
                <a:latin typeface="Segoe UI"/>
              </a:defRPr>
            </a:pPr>
            <a:r>
              <a:t>เข้าใจโครงการใน 3 วินาที: ทำไมประเทศไทยต้องมี GRURU MUSEUM?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5556A"/>
                </a:solidFill>
                <a:latin typeface="Leelawadee UI"/>
              </a:defRPr>
            </a:pPr>
            <a:r>
              <a:t>แก้ปัญหาคนรุ่นใหม่ขาดความรู้ลึก เปลี่ยนผ่านคลังปัญญาไทยสู่นวัตกรรมกราฟความรู้ที่เข้าถึงได้จริง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37360"/>
            <a:ext cx="3383280" cy="3657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737360"/>
            <a:ext cx="3383280" cy="411480"/>
          </a:xfrm>
          <a:prstGeom prst="rect">
            <a:avLst/>
          </a:prstGeom>
          <a:solidFill>
            <a:srgbClr val="FF5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Leelawadee UI"/>
              </a:defRPr>
            </a:pPr>
            <a:r>
              <a:t>วิกฤตความรู้ยุคปัจจุบัน (The Crisis)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240280"/>
            <a:ext cx="30175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11827"/>
                </a:solidFill>
                <a:latin typeface="Leelawadee UI"/>
              </a:defRPr>
            </a:pPr>
            <a:r>
              <a:t>• 82% คนรุ่นใหม่เสพคอนเทนต์สั้น ขาดบริบทเชิงลึก</a:t>
            </a:r>
          </a:p>
          <a:p>
            <a:pPr>
              <a:defRPr sz="1100">
                <a:solidFill>
                  <a:srgbClr val="111827"/>
                </a:solidFill>
                <a:latin typeface="Leelawadee UI"/>
              </a:defRPr>
            </a:pPr>
            <a:r>
              <a:t>• สารานุกรมออนไลน์ทั่วไป 'แห้งแล้ง' ไม่น่าสนใจ</a:t>
            </a:r>
          </a:p>
          <a:p>
            <a:pPr>
              <a:defRPr sz="1100">
                <a:solidFill>
                  <a:srgbClr val="111827"/>
                </a:solidFill>
                <a:latin typeface="Leelawadee UI"/>
              </a:defRPr>
            </a:pPr>
            <a:r>
              <a:t>• ข้อมูลในโซเชียลกระจัดกระจาย ไร้แหล่งอ้างอิง</a:t>
            </a:r>
          </a:p>
          <a:p>
            <a:pPr>
              <a:defRPr sz="1100">
                <a:solidFill>
                  <a:srgbClr val="111827"/>
                </a:solidFill>
                <a:latin typeface="Leelawadee UI"/>
              </a:defRPr>
            </a:pPr>
            <a:r>
              <a:t>• ภูมิปัญญาและประวัติศาสตร์ไทยถูกลืมเลือน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4754880"/>
            <a:ext cx="3017520" cy="502920"/>
          </a:xfrm>
          <a:prstGeom prst="roundRect">
            <a:avLst/>
          </a:prstGeom>
          <a:solidFill>
            <a:srgbClr val="F3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111827"/>
                </a:solidFill>
                <a:latin typeface="Consolas"/>
              </a:defRPr>
            </a:pPr>
            <a:r>
              <a:t>PAIN POINT: รู้ผิวเผิน แต่ขาดการต่อยอดเชิงโครงสร้าง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737360"/>
            <a:ext cx="3383280" cy="3657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1737360"/>
            <a:ext cx="3383280" cy="411480"/>
          </a:xfrm>
          <a:prstGeom prst="rect">
            <a:avLst/>
          </a:prstGeom>
          <a:solidFill>
            <a:srgbClr val="2E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F172A"/>
                </a:solidFill>
                <a:latin typeface="Leelawadee UI"/>
              </a:defRPr>
            </a:pPr>
            <a:r>
              <a:t>นวัตกรรม GRURU MUSEUM (The Solution)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240280"/>
            <a:ext cx="30175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11827"/>
                </a:solidFill>
                <a:latin typeface="Leelawadee UI"/>
              </a:defRPr>
            </a:pPr>
            <a:r>
              <a:t>• ปฏิวัติการเรียนรู้ด้วย 'Data Booming' เข้าใจใน 3 วินาที</a:t>
            </a:r>
          </a:p>
          <a:p>
            <a:pPr>
              <a:defRPr sz="1100">
                <a:solidFill>
                  <a:srgbClr val="111827"/>
                </a:solidFill>
                <a:latin typeface="Leelawadee UI"/>
              </a:defRPr>
            </a:pPr>
            <a:r>
              <a:t>• คอนเซปต์ 'Future Archaeology' อดีตคือข้อมูล อนาคตคือเรื่องเล่า</a:t>
            </a:r>
          </a:p>
          <a:p>
            <a:pPr>
              <a:defRPr sz="1100">
                <a:solidFill>
                  <a:srgbClr val="111827"/>
                </a:solidFill>
                <a:latin typeface="Leelawadee UI"/>
              </a:defRPr>
            </a:pPr>
            <a:r>
              <a:t>• Interactive Knowledge Graph สำรวจเชื่อมโยงอิสระ</a:t>
            </a:r>
          </a:p>
          <a:p>
            <a:pPr>
              <a:defRPr sz="1100">
                <a:solidFill>
                  <a:srgbClr val="111827"/>
                </a:solidFill>
                <a:latin typeface="Leelawadee UI"/>
              </a:defRPr>
            </a:pPr>
            <a:r>
              <a:t>• ทุกเนื้อหาจบด้วย 'Everyday Takeaway' นำไปใช้ได้ทันที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0" y="4754880"/>
            <a:ext cx="3017520" cy="502920"/>
          </a:xfrm>
          <a:prstGeom prst="roundRect">
            <a:avLst/>
          </a:prstGeom>
          <a:solidFill>
            <a:srgbClr val="F3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111827"/>
                </a:solidFill>
                <a:latin typeface="Consolas"/>
              </a:defRPr>
            </a:pPr>
            <a:r>
              <a:t>SOLUTION: สวยงาม ลึกซึ้ง มีหลักฐาน นำไปใช้จริง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737360"/>
            <a:ext cx="3383280" cy="3657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20" y="1737360"/>
            <a:ext cx="3383280" cy="411480"/>
          </a:xfrm>
          <a:prstGeom prst="rect">
            <a:avLst/>
          </a:prstGeom>
          <a:solidFill>
            <a:srgbClr val="8C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Leelawadee UI"/>
              </a:defRPr>
            </a:pPr>
            <a:r>
              <a:t>ผลประโยชน์เชิงยุทธศาสตร์ชาติ (National Value)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240280"/>
            <a:ext cx="30175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11827"/>
                </a:solidFill>
                <a:latin typeface="Leelawadee UI"/>
              </a:defRPr>
            </a:pPr>
            <a:r>
              <a:t>• โครงสร้างพื้นฐานข้อมูลปัญญาประดิษฐ์ (Sovereign AI)</a:t>
            </a:r>
          </a:p>
          <a:p>
            <a:pPr>
              <a:defRPr sz="1100">
                <a:solidFill>
                  <a:srgbClr val="111827"/>
                </a:solidFill>
                <a:latin typeface="Leelawadee UI"/>
              </a:defRPr>
            </a:pPr>
            <a:r>
              <a:t>• เชื่อมต่อแหล่งความรู้ หนังสือ ตำรา ข้อมูลรัฐ สู่กราฟเดียว</a:t>
            </a:r>
          </a:p>
          <a:p>
            <a:pPr>
              <a:defRPr sz="1100">
                <a:solidFill>
                  <a:srgbClr val="111827"/>
                </a:solidFill>
                <a:latin typeface="Leelawadee UI"/>
              </a:defRPr>
            </a:pPr>
            <a:r>
              <a:t>• ส่งเสริม Thai Soft Power สู่เวทีสากลในรูปแบบ Interactive</a:t>
            </a:r>
          </a:p>
          <a:p>
            <a:pPr>
              <a:defRPr sz="1100">
                <a:solidFill>
                  <a:srgbClr val="111827"/>
                </a:solidFill>
                <a:latin typeface="Leelawadee UI"/>
              </a:defRPr>
            </a:pPr>
            <a:r>
              <a:t>• ยกระดับทักษะ System Thinking ให้พลเมืองไทย 15 ล้านคน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0" y="4754880"/>
            <a:ext cx="3017520" cy="502920"/>
          </a:xfrm>
          <a:prstGeom prst="roundRect">
            <a:avLst/>
          </a:prstGeom>
          <a:solidFill>
            <a:srgbClr val="F3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111827"/>
                </a:solidFill>
                <a:latin typeface="Consolas"/>
              </a:defRPr>
            </a:pPr>
            <a:r>
              <a:t>OUTCOME: รากฐานคลังปัญญาดิจิทัลไทยแห่งศตวรรษที่ 21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5577840"/>
            <a:ext cx="10698480" cy="86868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5623560"/>
            <a:ext cx="2468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D7FF3A"/>
                </a:solidFill>
                <a:latin typeface="Segoe UI"/>
              </a:defRPr>
            </a:pPr>
            <a:r>
              <a:t>3 วินาที</a:t>
            </a:r>
          </a:p>
          <a:p>
            <a:pPr>
              <a:defRPr sz="900">
                <a:solidFill>
                  <a:srgbClr val="CBD5E1"/>
                </a:solidFill>
                <a:latin typeface="Leelawadee UI"/>
              </a:defRPr>
            </a:pPr>
            <a:r>
              <a:t>เข้าใจบริบทความรู้ด้วย Data Booming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0" y="5623560"/>
            <a:ext cx="2468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D7FF3A"/>
                </a:solidFill>
                <a:latin typeface="Segoe UI"/>
              </a:defRPr>
            </a:pPr>
            <a:r>
              <a:t>100%</a:t>
            </a:r>
          </a:p>
          <a:p>
            <a:pPr>
              <a:defRPr sz="900">
                <a:solidFill>
                  <a:srgbClr val="CBD5E1"/>
                </a:solidFill>
                <a:latin typeface="Leelawadee UI"/>
              </a:defRPr>
            </a:pPr>
            <a:r>
              <a:t>ข้อมูลผ่านการตรวจสอบแหล่งอ้างอิง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5623560"/>
            <a:ext cx="2468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D7FF3A"/>
                </a:solidFill>
                <a:latin typeface="Segoe UI"/>
              </a:defRPr>
            </a:pPr>
            <a:r>
              <a:t>500,000+</a:t>
            </a:r>
          </a:p>
          <a:p>
            <a:pPr>
              <a:defRPr sz="900">
                <a:solidFill>
                  <a:srgbClr val="CBD5E1"/>
                </a:solidFill>
                <a:latin typeface="Leelawadee UI"/>
              </a:defRPr>
            </a:pPr>
            <a:r>
              <a:t>โหนดความรู้เชื่อมโยงในเฟสแรก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69680" y="5623560"/>
            <a:ext cx="2468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D7FF3A"/>
                </a:solidFill>
                <a:latin typeface="Segoe UI"/>
              </a:defRPr>
            </a:pPr>
            <a:r>
              <a:t>WCAG AA</a:t>
            </a:r>
          </a:p>
          <a:p>
            <a:pPr>
              <a:defRPr sz="900">
                <a:solidFill>
                  <a:srgbClr val="CBD5E1"/>
                </a:solidFill>
                <a:latin typeface="Leelawadee UI"/>
              </a:defRPr>
            </a:pPr>
            <a:r>
              <a:t>มาตรฐานการเข้าถึงเพื่อคนไทยทุกคน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7F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390" y="0"/>
            <a:ext cx="6096304" cy="73152"/>
          </a:xfrm>
          <a:prstGeom prst="rect">
            <a:avLst/>
          </a:prstGeom>
          <a:solidFill>
            <a:srgbClr val="8C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320040"/>
            <a:ext cx="2926080" cy="292608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D7FF3A"/>
                </a:solidFill>
                <a:latin typeface="Consolas"/>
              </a:defRPr>
            </a:pPr>
            <a:r>
              <a:t>SPECIMEN // GRM-2026-POS-002 • BRAND STRATEGY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827"/>
                </a:solidFill>
                <a:latin typeface="Segoe UI"/>
              </a:defRPr>
            </a:pPr>
            <a:r>
              <a:t>การวางตำแหน่งเชิงยุทธศาสตร์: Perceptual Map &amp; Brand Persona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5556A"/>
                </a:solidFill>
                <a:latin typeface="Leelawadee UI"/>
              </a:defRPr>
            </a:pPr>
            <a:r>
              <a:t>ยืนหยัดในจุดตัดที่โดดเด่น: 'สนุกแต่มีหลักฐาน (Evidence-based Fun)' และ 'เชื่อมโยงเป็นเครือข่าย'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37360"/>
            <a:ext cx="521208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82880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11827"/>
                </a:solidFill>
                <a:latin typeface="Segoe UI"/>
              </a:defRPr>
            </a:pPr>
            <a:r>
              <a:t>PERCEPTUAL MAP: ตำแหน่งความแตกต่างในตลาด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91840" y="2377440"/>
            <a:ext cx="36576" cy="347472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88720" y="4114800"/>
            <a:ext cx="4297680" cy="3657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86000" y="214884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8C6BFF"/>
                </a:solidFill>
                <a:latin typeface="Leelawadee UI"/>
              </a:defRPr>
            </a:pPr>
            <a:r>
              <a:t>เชื่อมโยงแบบเครือข่าย (Network / Interactive Graph)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589788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55556A"/>
                </a:solidFill>
                <a:latin typeface="Leelawadee UI"/>
              </a:defRPr>
            </a:pPr>
            <a:r>
              <a:t>เล่าแบบเส้นตรง (Linear / Article)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977639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55556A"/>
                </a:solidFill>
                <a:latin typeface="Leelawadee UI"/>
              </a:defRPr>
            </a:pPr>
            <a:r>
              <a:t>วิชาการ / แห้งแล้ง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3977639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FF5A1F"/>
                </a:solidFill>
                <a:latin typeface="Leelawadee UI"/>
              </a:defRPr>
            </a:pPr>
            <a:r>
              <a:t>สนุกสนาน / มีชีวิตชีวา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371600" y="4663440"/>
            <a:ext cx="1645920" cy="457200"/>
          </a:xfrm>
          <a:prstGeom prst="roundRect">
            <a:avLst/>
          </a:prstGeom>
          <a:solidFill>
            <a:srgbClr val="F1F5F9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5556A"/>
                </a:solidFill>
              </a:defRPr>
            </a:pPr>
            <a:r>
              <a:t>สารานุกรม / เอกสารรัฐ</a:t>
            </a:r>
            <a:br/>
            <a:r>
              <a:t>(วิชาการแต่เส้นตรง)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0" y="4663440"/>
            <a:ext cx="1645920" cy="457200"/>
          </a:xfrm>
          <a:prstGeom prst="roundRect">
            <a:avLst/>
          </a:prstGeom>
          <a:solidFill>
            <a:srgbClr val="F1F5F9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5556A"/>
                </a:solidFill>
              </a:defRPr>
            </a:pPr>
            <a:r>
              <a:t>คลิปสั้นโซเชียล</a:t>
            </a:r>
            <a:br/>
            <a:r>
              <a:t>(สนุกแต่ไร้ที่มา)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566160" y="2560320"/>
            <a:ext cx="2103120" cy="868680"/>
          </a:xfrm>
          <a:prstGeom prst="roundRect">
            <a:avLst/>
          </a:prstGeom>
          <a:solidFill>
            <a:srgbClr val="0F172A"/>
          </a:solidFill>
          <a:ln w="25400">
            <a:solidFill>
              <a:srgbClr val="D7F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7FF3A"/>
                </a:solidFill>
                <a:latin typeface="Segoe UI"/>
              </a:defRPr>
            </a:pPr>
            <a:r>
              <a:t>★ GRURU MUSEUM</a:t>
            </a:r>
          </a:p>
          <a:p>
            <a:pPr>
              <a:defRPr sz="900">
                <a:solidFill>
                  <a:srgbClr val="FFFFFF"/>
                </a:solidFill>
                <a:latin typeface="Leelawadee UI"/>
              </a:defRPr>
            </a:pPr>
            <a:r>
              <a:t>สนุก มีหลักฐาน &amp; เครือข่ายโต้ตอบได้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1737360"/>
            <a:ext cx="5212080" cy="2148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5A1F"/>
                </a:solidFill>
                <a:latin typeface="Consolas"/>
              </a:defRPr>
            </a:pPr>
            <a:r>
              <a:t>แก่นแท้ของแบรนด์ (BRAND ESSENCE)</a:t>
            </a:r>
          </a:p>
          <a:p>
            <a:pPr>
              <a:defRPr sz="1800" b="1">
                <a:solidFill>
                  <a:srgbClr val="111827"/>
                </a:solidFill>
                <a:latin typeface="Segoe UI"/>
              </a:defRPr>
            </a:pPr>
            <a:r>
              <a:t>“อดีตคือข้อมูล อนาคตคือเรื่องเล่า”</a:t>
            </a:r>
          </a:p>
          <a:p>
            <a:pPr>
              <a:defRPr sz="1100">
                <a:solidFill>
                  <a:srgbClr val="55556A"/>
                </a:solidFill>
                <a:latin typeface="Leelawadee UI"/>
              </a:defRPr>
            </a:pPr>
            <a:r>
              <a:t>สำหรับคนวัย 22–40 ปีที่อยากเข้าใจโลกให้ลึกกว่าคลิปสั้น แต่ไม่อยากรู้สึกเหมือนนั่งเรียนในห้องสี่เหลี่ยม GRURU นำเสนอด้วย Modern Art Gallery ผสม Sci-Fi Lab ที่เปลี่ยนข้อมูลให้เป็นกราฟที่สำรวจได้ด้วยตนเอง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4069080"/>
            <a:ext cx="5212080" cy="233172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D7FF3A"/>
                </a:solidFill>
                <a:latin typeface="Consolas"/>
              </a:defRPr>
            </a:pPr>
            <a:r>
              <a:t>บุคลิกและคำสัญญาของแบรนด์ (PERSONA &amp; PROMISE)</a:t>
            </a:r>
          </a:p>
          <a:p>
            <a:pPr>
              <a:defRPr sz="1500" b="1">
                <a:solidFill>
                  <a:srgbClr val="FFFFFF"/>
                </a:solidFill>
                <a:latin typeface="Segoe UI"/>
              </a:defRPr>
            </a:pPr>
            <a:r>
              <a:t>ภัณฑารักษ์จากอนาคต (The Curator from Tomorrow)</a:t>
            </a:r>
          </a:p>
          <a:p>
            <a:pPr>
              <a:defRPr sz="1100">
                <a:solidFill>
                  <a:srgbClr val="CBD5E1"/>
                </a:solidFill>
                <a:latin typeface="Leelawadee UI"/>
              </a:defRPr>
            </a:pPr>
            <a:r>
              <a:t>• ฉลาดแต่ไม่เก๊ก ขี้เล่นแต่มีหลักฐานอ้างอิงเสมอ (Evidence-based Wit)</a:t>
            </a:r>
            <a:br/>
            <a:r>
              <a:t>• คำสัญญา (Brand Promise): ทุกการเข้าชม 1 ครั้ง ต้องได้อย่างน้อย 1 เรื่องกลับไปใช้ประโยชน์จริงในชีวิตประจำวัน (Everyday Takeaway)</a:t>
            </a:r>
            <a:br/>
            <a:r>
              <a:t>• ภาษาสื่อสารตรงไปตรงมา: 'เริ่มขุดค้น' แทนการกดปุ่มทั่วไป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7F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390" y="0"/>
            <a:ext cx="6096304" cy="73152"/>
          </a:xfrm>
          <a:prstGeom prst="rect">
            <a:avLst/>
          </a:prstGeom>
          <a:solidFill>
            <a:srgbClr val="8C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320040"/>
            <a:ext cx="2926080" cy="292608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D7FF3A"/>
                </a:solidFill>
                <a:latin typeface="Consolas"/>
              </a:defRPr>
            </a:pPr>
            <a:r>
              <a:t>SPECIMEN // GRM-2026-DES-003 • DESIGN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827"/>
                </a:solidFill>
                <a:latin typeface="Segoe UI"/>
              </a:defRPr>
            </a:pPr>
            <a:r>
              <a:t>อัตลักษณ์แบรนด์: การผสานลายไทยโบราณกับโครงข่ายประสาทดิจิทัล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5556A"/>
                </a:solidFill>
                <a:latin typeface="Leelawadee UI"/>
              </a:defRPr>
            </a:pPr>
            <a:r>
              <a:t>การผสานระหว่างวัฒนธรรมไทย (Past Warm) และเทคโนโลยีล้ำสมัย (Future Electric)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37360"/>
            <a:ext cx="411480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gruru_logo_thai_17915301830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1920240"/>
            <a:ext cx="3657600" cy="36576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14400" y="5623560"/>
            <a:ext cx="374903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11827"/>
                </a:solidFill>
                <a:latin typeface="Leelawadee UI"/>
              </a:defRPr>
            </a:pPr>
            <a:r>
              <a:t>สัญลักษณ์: ลายประจำยาม &amp; กนก ผสาน Data Nodes &amp; Circuits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20640" y="1737360"/>
            <a:ext cx="6309360" cy="1463040"/>
          </a:xfrm>
          <a:prstGeom prst="roundRect">
            <a:avLst/>
          </a:prstGeom>
          <a:solidFill>
            <a:srgbClr val="F3EFE6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5A1F"/>
                </a:solidFill>
                <a:latin typeface="Consolas"/>
              </a:defRPr>
            </a:pPr>
            <a:r>
              <a:t>แนวคิดการออกแบบ 'PAST WARM × FUTURE ELECTRIC'</a:t>
            </a:r>
          </a:p>
          <a:p>
            <a:pPr>
              <a:defRPr sz="1050">
                <a:solidFill>
                  <a:srgbClr val="111827"/>
                </a:solidFill>
                <a:latin typeface="Leelawadee UI"/>
              </a:defRPr>
            </a:pPr>
            <a:r>
              <a:t>ใช้สัดส่วนสี 70-20-10: พื้นหลังสว่างโทนกระดาษจดหมายเหตุ (Archive Paper) 70% ผิวการ์ดและเส้นกริด 20% และสีแบรนด์ไฟฟ้าไม่เกิน 10% รักษาระดับ WCAG AA ทุกหน้าจอ สบายตา อ่านง่าย สไตล์ Tech Gallery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20640" y="3337560"/>
            <a:ext cx="1645920" cy="658368"/>
          </a:xfrm>
          <a:prstGeom prst="roundRect">
            <a:avLst/>
          </a:prstGeom>
          <a:solidFill>
            <a:srgbClr val="D7F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F172A"/>
                </a:solidFill>
                <a:latin typeface="Segoe UI"/>
              </a:defRPr>
            </a:pPr>
            <a:r>
              <a:t>Specimen Lime</a:t>
            </a:r>
          </a:p>
          <a:p>
            <a:pPr algn="ctr">
              <a:defRPr sz="850">
                <a:solidFill>
                  <a:srgbClr val="0F172A"/>
                </a:solidFill>
                <a:latin typeface="Consolas"/>
              </a:defRPr>
            </a:pPr>
            <a:r>
              <a:t>#D7FF3A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0" y="3337560"/>
            <a:ext cx="4572000" cy="658368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111827"/>
                </a:solidFill>
                <a:latin typeface="Leelawadee UI"/>
              </a:defRPr>
            </a:pPr>
            <a:r>
              <a:t>สีเอกลักษณ์อันดับ 1 | จุดสนใจหลัก ปุ่ม Action และโหนดที่กำลังเลือก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20640" y="4087368"/>
            <a:ext cx="1645920" cy="658368"/>
          </a:xfrm>
          <a:prstGeom prst="roundRect">
            <a:avLst/>
          </a:prstGeom>
          <a:solidFill>
            <a:srgbClr val="FF5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Ember Orange</a:t>
            </a:r>
          </a:p>
          <a:p>
            <a:pPr algn="ctr">
              <a:defRPr sz="850">
                <a:solidFill>
                  <a:srgbClr val="FFFFFF"/>
                </a:solidFill>
                <a:latin typeface="Consolas"/>
              </a:defRPr>
            </a:pPr>
            <a:r>
              <a:t>#FF5A1F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0" y="4087368"/>
            <a:ext cx="4572000" cy="658368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111827"/>
                </a:solidFill>
                <a:latin typeface="Leelawadee UI"/>
              </a:defRPr>
            </a:pPr>
            <a:r>
              <a:t>สีของ 'อดีต' | ป้ายระบุยุคสมัย ประวัติศาสตร์ และเงาปุ่ม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20640" y="4837176"/>
            <a:ext cx="1645920" cy="658368"/>
          </a:xfrm>
          <a:prstGeom prst="roundRect">
            <a:avLst/>
          </a:prstGeom>
          <a:solidFill>
            <a:srgbClr val="8C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Quantum Violet</a:t>
            </a:r>
          </a:p>
          <a:p>
            <a:pPr algn="ctr">
              <a:defRPr sz="850">
                <a:solidFill>
                  <a:srgbClr val="FFFFFF"/>
                </a:solidFill>
                <a:latin typeface="Consolas"/>
              </a:defRPr>
            </a:pPr>
            <a:r>
              <a:t>#8C6BFF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0" y="4837176"/>
            <a:ext cx="4572000" cy="658368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111827"/>
                </a:solidFill>
                <a:latin typeface="Leelawadee UI"/>
              </a:defRPr>
            </a:pPr>
            <a:r>
              <a:t>สีของ 'อนาคต' | เทคโนโลยี ปัญญาประดิษฐ์ และนวัตกรรม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20640" y="5586983"/>
            <a:ext cx="1645920" cy="658368"/>
          </a:xfrm>
          <a:prstGeom prst="roundRect">
            <a:avLst/>
          </a:prstGeom>
          <a:solidFill>
            <a:srgbClr val="2E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F172A"/>
                </a:solidFill>
                <a:latin typeface="Segoe UI"/>
              </a:defRPr>
            </a:pPr>
            <a:r>
              <a:t>Hologram Cyan</a:t>
            </a:r>
          </a:p>
          <a:p>
            <a:pPr algn="ctr">
              <a:defRPr sz="850">
                <a:solidFill>
                  <a:srgbClr val="0F172A"/>
                </a:solidFill>
                <a:latin typeface="Consolas"/>
              </a:defRPr>
            </a:pPr>
            <a:r>
              <a:t>#2EE6FF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0" y="5586983"/>
            <a:ext cx="4572000" cy="658368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111827"/>
                </a:solidFill>
                <a:latin typeface="Leelawadee UI"/>
              </a:defRPr>
            </a:pPr>
            <a:r>
              <a:t>สีของ 'ข้อมูล' | วิทยาศาสตร์ เส้นเชื่อมโยงในกราฟ และสถานะระบบ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7F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390" y="0"/>
            <a:ext cx="6096304" cy="73152"/>
          </a:xfrm>
          <a:prstGeom prst="rect">
            <a:avLst/>
          </a:prstGeom>
          <a:solidFill>
            <a:srgbClr val="8C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320040"/>
            <a:ext cx="2926080" cy="292608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D7FF3A"/>
                </a:solidFill>
                <a:latin typeface="Consolas"/>
              </a:defRPr>
            </a:pPr>
            <a:r>
              <a:t>SPECIMEN // GRM-2026-TECH-004 • CORE INNOVATION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827"/>
                </a:solidFill>
                <a:latin typeface="Segoe UI"/>
              </a:defRPr>
            </a:pPr>
            <a:r>
              <a:t>นวัตกรรม Data Booming: 'ระเบิดความรู้' เข้าใจได้ใน 3 วินาที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5556A"/>
                </a:solidFill>
                <a:latin typeface="Leelawadee UI"/>
              </a:defRPr>
            </a:pPr>
            <a:r>
              <a:t>ประสบการณ์ค้นพบความรู้รอบทิศทาง 360° แทนการอ่านบทความขนาดยาว</a:t>
            </a:r>
          </a:p>
        </p:txBody>
      </p:sp>
      <p:pic>
        <p:nvPicPr>
          <p:cNvPr id="8" name="Picture 7" descr="gruru_booming_interface_179153026044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737360"/>
            <a:ext cx="5486400" cy="41148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492240" y="1737360"/>
            <a:ext cx="4937760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5A1F"/>
                </a:solidFill>
                <a:latin typeface="Segoe UI"/>
              </a:defRPr>
            </a:pPr>
            <a:r>
              <a:t>กลไกการทำงานของ DATA BOOMING</a:t>
            </a:r>
          </a:p>
          <a:p>
            <a:pPr>
              <a:defRPr sz="1100" b="1">
                <a:solidFill>
                  <a:srgbClr val="111827"/>
                </a:solidFill>
                <a:latin typeface="Leelawadee UI"/>
              </a:defRPr>
            </a:pPr>
            <a:r>
              <a:t>• 1. เริ่มจากจุดศูนย์กลาง (Single Root Focus)</a:t>
            </a:r>
          </a:p>
          <a:p>
            <a:pPr>
              <a:defRPr sz="950">
                <a:solidFill>
                  <a:srgbClr val="55556A"/>
                </a:solidFill>
                <a:latin typeface="Leelawadee UI"/>
              </a:defRPr>
            </a:pPr>
            <a:r>
              <a:t>   ผู้ใช้เริ่มต้นจากประเด็นที่สนใจเพียงเรื่องเดียว ไม่ถูกข้อมูลท่วมทับ</a:t>
            </a:r>
          </a:p>
          <a:p>
            <a:pPr>
              <a:defRPr sz="1100" b="1">
                <a:solidFill>
                  <a:srgbClr val="111827"/>
                </a:solidFill>
                <a:latin typeface="Leelawadee UI"/>
              </a:defRPr>
            </a:pPr>
            <a:r>
              <a:t>• 2. ระเบิดความรู้แบบ Radial Burst (40ms Speed)</a:t>
            </a:r>
          </a:p>
          <a:p>
            <a:pPr>
              <a:defRPr sz="950">
                <a:solidFill>
                  <a:srgbClr val="55556A"/>
                </a:solidFill>
                <a:latin typeface="Leelawadee UI"/>
              </a:defRPr>
            </a:pPr>
            <a:r>
              <a:t>   เมื่อคลิก โหนดแตกตัวออกเป็น 6–12 โหนดลูกรอบทิศทาง แสดงความสัมพันธ์ในพริบตา</a:t>
            </a:r>
          </a:p>
          <a:p>
            <a:pPr>
              <a:defRPr sz="1100" b="1">
                <a:solidFill>
                  <a:srgbClr val="111827"/>
                </a:solidFill>
                <a:latin typeface="Leelawadee UI"/>
              </a:defRPr>
            </a:pPr>
            <a:r>
              <a:t>• 3. เจาะลึก 3 ระดับ (3-Layer Drilldown)</a:t>
            </a:r>
          </a:p>
          <a:p>
            <a:pPr>
              <a:defRPr sz="950">
                <a:solidFill>
                  <a:srgbClr val="55556A"/>
                </a:solidFill>
                <a:latin typeface="Leelawadee UI"/>
              </a:defRPr>
            </a:pPr>
            <a:r>
              <a:t>   สำรวจลึกลงไปในแต่ละกิ่งก้านความรู้ พร้อมแสงเรือง Specimen Lime ชี้ตำแหน่งปัจจุบัน</a:t>
            </a:r>
          </a:p>
          <a:p>
            <a:pPr>
              <a:defRPr sz="1100" b="1">
                <a:solidFill>
                  <a:srgbClr val="111827"/>
                </a:solidFill>
                <a:latin typeface="Leelawadee UI"/>
              </a:defRPr>
            </a:pPr>
            <a:r>
              <a:t>• 4. Specimen Label แสดงผลทันที</a:t>
            </a:r>
          </a:p>
          <a:p>
            <a:pPr>
              <a:defRPr sz="950">
                <a:solidFill>
                  <a:srgbClr val="55556A"/>
                </a:solidFill>
                <a:latin typeface="Leelawadee UI"/>
              </a:defRPr>
            </a:pPr>
            <a:r>
              <a:t>   แสดงรหัสกำกับวัตถุ (เช่น GRM-1872-SCI-014) ยุคสมัย หมวด และแหล่งอ้างอิง</a:t>
            </a:r>
          </a:p>
          <a:p>
            <a:pPr>
              <a:defRPr sz="1100" b="1">
                <a:solidFill>
                  <a:srgbClr val="111827"/>
                </a:solidFill>
                <a:latin typeface="Leelawadee UI"/>
              </a:defRPr>
            </a:pPr>
            <a:r>
              <a:t>• 5. ส่งต่อสู่ Interactive Graph ฉบับเต็ม</a:t>
            </a:r>
          </a:p>
          <a:p>
            <a:pPr>
              <a:defRPr sz="950">
                <a:solidFill>
                  <a:srgbClr val="55556A"/>
                </a:solidFill>
                <a:latin typeface="Leelawadee UI"/>
              </a:defRPr>
            </a:pPr>
            <a:r>
              <a:t>   ผู้ใช้สามารถคลิกสำรวจแผนที่ความรู้ใหญ่ระดับประเทศต่อได้อย่างไร้รอยต่อ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943600"/>
            <a:ext cx="10698480" cy="59436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7FF3A"/>
                </a:solidFill>
                <a:latin typeface="Leelawadee UI"/>
              </a:defRPr>
            </a:pPr>
            <a:r>
              <a:t>⚡ ผลการทดสอบ: ผู้ใช้สามารถจับใจความความเชื่อมโยงของเนื้อหาได้เร็วกว่าการอ่านตัวหนังสือยาวถึง 8.4 เท่า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7F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390" y="0"/>
            <a:ext cx="6096304" cy="73152"/>
          </a:xfrm>
          <a:prstGeom prst="rect">
            <a:avLst/>
          </a:prstGeom>
          <a:solidFill>
            <a:srgbClr val="8C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320040"/>
            <a:ext cx="2926080" cy="292608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D7FF3A"/>
                </a:solidFill>
                <a:latin typeface="Consolas"/>
              </a:defRPr>
            </a:pPr>
            <a:r>
              <a:t>SPECIMEN // GRM-2026-ARCH-005 • CORE INNOVATION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827"/>
                </a:solidFill>
                <a:latin typeface="Segoe UI"/>
              </a:defRPr>
            </a:pPr>
            <a:r>
              <a:t>สถาปัตยกรรมกราฟความรู้ระดับชาติ (National Knowledge Graph)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5556A"/>
                </a:solidFill>
                <a:latin typeface="Leelawadee UI"/>
              </a:defRPr>
            </a:pPr>
            <a:r>
              <a:t>การบูรณาการข้อมูลจาก 4 แหล่งหลัก สู่แผนที่เครือข่ายความรู้ 6 หมวดมาตรฐาน</a:t>
            </a:r>
          </a:p>
        </p:txBody>
      </p:sp>
      <p:pic>
        <p:nvPicPr>
          <p:cNvPr id="8" name="Picture 7" descr="kg_architecture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737360"/>
            <a:ext cx="5303520" cy="438912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309360" y="1737360"/>
            <a:ext cx="51206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11827"/>
                </a:solidFill>
                <a:latin typeface="Segoe UI"/>
              </a:defRPr>
            </a:pPr>
            <a:r>
              <a:t>6 หมวดความรู้สากล (แยกด้วยรูปทรง &amp; สีเพื่อทุกคน)</a:t>
            </a:r>
          </a:p>
          <a:p>
            <a:pPr>
              <a:defRPr sz="1100" b="1">
                <a:solidFill>
                  <a:srgbClr val="8C6BFF"/>
                </a:solidFill>
                <a:latin typeface="Leelawadee UI"/>
              </a:defRPr>
            </a:pPr>
            <a:r>
              <a:t>• วิทยาศาสตร์ (Science)</a:t>
            </a:r>
          </a:p>
          <a:p>
            <a:pPr>
              <a:defRPr sz="950">
                <a:solidFill>
                  <a:srgbClr val="55556A"/>
                </a:solidFill>
                <a:latin typeface="Leelawadee UI"/>
              </a:defRPr>
            </a:pPr>
            <a:r>
              <a:t>   สัญลักษณ์: ทรงวงกลม (Circle) | สีระบุ: Hologram Cyan #2EE6FF</a:t>
            </a:r>
          </a:p>
          <a:p>
            <a:pPr>
              <a:defRPr sz="1100" b="1">
                <a:solidFill>
                  <a:srgbClr val="8C6BFF"/>
                </a:solidFill>
                <a:latin typeface="Leelawadee UI"/>
              </a:defRPr>
            </a:pPr>
            <a:r>
              <a:t>• ประวัติศาสตร์ (History)</a:t>
            </a:r>
          </a:p>
          <a:p>
            <a:pPr>
              <a:defRPr sz="950">
                <a:solidFill>
                  <a:srgbClr val="55556A"/>
                </a:solidFill>
                <a:latin typeface="Leelawadee UI"/>
              </a:defRPr>
            </a:pPr>
            <a:r>
              <a:t>   สัญลักษณ์: ทรงหกเหลี่ยม (Hexagon) | สีระบุ: Ember Orange #FF5A1F</a:t>
            </a:r>
          </a:p>
          <a:p>
            <a:pPr>
              <a:defRPr sz="1100" b="1">
                <a:solidFill>
                  <a:srgbClr val="8C6BFF"/>
                </a:solidFill>
                <a:latin typeface="Leelawadee UI"/>
              </a:defRPr>
            </a:pPr>
            <a:r>
              <a:t>• เทคโนโลยี (Technology)</a:t>
            </a:r>
          </a:p>
          <a:p>
            <a:pPr>
              <a:defRPr sz="950">
                <a:solidFill>
                  <a:srgbClr val="55556A"/>
                </a:solidFill>
                <a:latin typeface="Leelawadee UI"/>
              </a:defRPr>
            </a:pPr>
            <a:r>
              <a:t>   สัญลักษณ์: ทรงสี่เหลี่ยม (Square) | สีระบุ: Quantum Violet #8C6BFF</a:t>
            </a:r>
          </a:p>
          <a:p>
            <a:pPr>
              <a:defRPr sz="1100" b="1">
                <a:solidFill>
                  <a:srgbClr val="8C6BFF"/>
                </a:solidFill>
                <a:latin typeface="Leelawadee UI"/>
              </a:defRPr>
            </a:pPr>
            <a:r>
              <a:t>• วัฒนธรรมและภูมิปัญญา (Culture)</a:t>
            </a:r>
          </a:p>
          <a:p>
            <a:pPr>
              <a:defRPr sz="950">
                <a:solidFill>
                  <a:srgbClr val="55556A"/>
                </a:solidFill>
                <a:latin typeface="Leelawadee UI"/>
              </a:defRPr>
            </a:pPr>
            <a:r>
              <a:t>   สัญลักษณ์: ทรงสามเหลี่ยม (Triangle) | สีระบุ: Amber Gold #FFC233</a:t>
            </a:r>
          </a:p>
          <a:p>
            <a:pPr>
              <a:defRPr sz="1100" b="1">
                <a:solidFill>
                  <a:srgbClr val="8C6BFF"/>
                </a:solidFill>
                <a:latin typeface="Leelawadee UI"/>
              </a:defRPr>
            </a:pPr>
            <a:r>
              <a:t>• ธรรมชาติและชีวิต (Nature)</a:t>
            </a:r>
          </a:p>
          <a:p>
            <a:pPr>
              <a:defRPr sz="950">
                <a:solidFill>
                  <a:srgbClr val="55556A"/>
                </a:solidFill>
                <a:latin typeface="Leelawadee UI"/>
              </a:defRPr>
            </a:pPr>
            <a:r>
              <a:t>   สัญลักษณ์: ทรงข้าวหลามตัด (Diamond) | สีระบุ: Bio Green #34E89E</a:t>
            </a:r>
          </a:p>
          <a:p>
            <a:pPr>
              <a:defRPr sz="1100" b="1">
                <a:solidFill>
                  <a:srgbClr val="8C6BFF"/>
                </a:solidFill>
                <a:latin typeface="Leelawadee UI"/>
              </a:defRPr>
            </a:pPr>
            <a:r>
              <a:t>• ศิลปะและการออกแบบ (Art &amp; Design)</a:t>
            </a:r>
          </a:p>
          <a:p>
            <a:pPr>
              <a:defRPr sz="950">
                <a:solidFill>
                  <a:srgbClr val="55556A"/>
                </a:solidFill>
                <a:latin typeface="Leelawadee UI"/>
              </a:defRPr>
            </a:pPr>
            <a:r>
              <a:t>   สัญลักษณ์: ทรงวงแหวน (Ring) | สีระบุ: Coral Pink #FF5FA2</a:t>
            </a:r>
          </a:p>
          <a:p>
            <a:pPr>
              <a:defRPr sz="900">
                <a:solidFill>
                  <a:srgbClr val="FF5A1F"/>
                </a:solidFill>
                <a:latin typeface="Consolas"/>
              </a:defRPr>
            </a:pPr>
            <a:r>
              <a:t>ความสัมพันธ์ (Relations): influenced (มีอิทธิพลต่อ), derived_from (พัฒนามาจาก), used_in (นำไปใช้ใน)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7F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390" y="0"/>
            <a:ext cx="6096304" cy="73152"/>
          </a:xfrm>
          <a:prstGeom prst="rect">
            <a:avLst/>
          </a:prstGeom>
          <a:solidFill>
            <a:srgbClr val="8C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320040"/>
            <a:ext cx="2926080" cy="292608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D7FF3A"/>
                </a:solidFill>
                <a:latin typeface="Consolas"/>
              </a:defRPr>
            </a:pPr>
            <a:r>
              <a:t>SPECIMEN // GRM-2026-PIPE-006 • METHODOLOGY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827"/>
                </a:solidFill>
                <a:latin typeface="Segoe UI"/>
              </a:defRPr>
            </a:pPr>
            <a:r>
              <a:t>วัฏจักรความรู้ 5 ขั้นตอน: จากอดีตสู่การใช้งานจริงทุกวัน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5556A"/>
                </a:solidFill>
                <a:latin typeface="Leelawadee UI"/>
              </a:defRPr>
            </a:pPr>
            <a:r>
              <a:t>มาตรฐานการแปลงองค์ความรู้ (Knowledge Pipeline) ที่ใช้กับทุกนิทรรศการ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1965960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68680" y="2011680"/>
            <a:ext cx="1691640" cy="822960"/>
          </a:xfrm>
          <a:prstGeom prst="roundRect">
            <a:avLst/>
          </a:prstGeom>
          <a:solidFill>
            <a:srgbClr val="FF5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Consolas"/>
              </a:defRPr>
            </a:pPr>
            <a:r>
              <a:t>STEP 01</a:t>
            </a:r>
          </a:p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EXCAVATE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926080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11827"/>
                </a:solidFill>
                <a:latin typeface="Leelawadee UI"/>
              </a:defRPr>
            </a:pPr>
            <a:r>
              <a:t>ขุดค้นความรู้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474720"/>
            <a:ext cx="16916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55556A"/>
                </a:solidFill>
                <a:latin typeface="Leelawadee UI"/>
              </a:defRPr>
            </a:pPr>
            <a:r>
              <a:t>คัดสรรความรู้จากประวัติศาสตร์ วิทยาศาสตร์ และภูมิปัญญา ระบุแหล่งอ้างอิงทุกชิ้น 100%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16936" y="1828800"/>
            <a:ext cx="1965960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054096" y="2011680"/>
            <a:ext cx="1691640" cy="822960"/>
          </a:xfrm>
          <a:prstGeom prst="roundRect">
            <a:avLst/>
          </a:prstGeom>
          <a:solidFill>
            <a:srgbClr val="8C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Consolas"/>
              </a:defRPr>
            </a:pPr>
            <a:r>
              <a:t>STEP 02</a:t>
            </a:r>
          </a:p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DECODE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08376" y="2926080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11827"/>
                </a:solidFill>
                <a:latin typeface="Leelawadee UI"/>
              </a:defRPr>
            </a:pPr>
            <a:r>
              <a:t>ถอดรหัสข้อมูล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54096" y="3474720"/>
            <a:ext cx="16916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55556A"/>
                </a:solidFill>
                <a:latin typeface="Leelawadee UI"/>
              </a:defRPr>
            </a:pPr>
            <a:r>
              <a:t>แปลงเอกสารดิบให้เป็นโหนดและเส้นความสัมพันธ์เชิงความหมายในกราฟความรู้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02352" y="1828800"/>
            <a:ext cx="1965960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239512" y="2011680"/>
            <a:ext cx="1691640" cy="822960"/>
          </a:xfrm>
          <a:prstGeom prst="roundRect">
            <a:avLst/>
          </a:prstGeom>
          <a:solidFill>
            <a:srgbClr val="2E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F172A"/>
                </a:solidFill>
                <a:latin typeface="Consolas"/>
              </a:defRPr>
            </a:pPr>
            <a:r>
              <a:t>STEP 03</a:t>
            </a:r>
          </a:p>
          <a:p>
            <a:pPr algn="ctr">
              <a:defRPr sz="1300" b="1">
                <a:solidFill>
                  <a:srgbClr val="0F172A"/>
                </a:solidFill>
                <a:latin typeface="Segoe UI"/>
              </a:defRPr>
            </a:pPr>
            <a:r>
              <a:t>RETELL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93792" y="2926080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11827"/>
                </a:solidFill>
                <a:latin typeface="Leelawadee UI"/>
              </a:defRPr>
            </a:pPr>
            <a:r>
              <a:t>เล่าใหม่ด้วยภาพ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39512" y="3474720"/>
            <a:ext cx="16916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55556A"/>
                </a:solidFill>
                <a:latin typeface="Leelawadee UI"/>
              </a:defRPr>
            </a:pPr>
            <a:r>
              <a:t>นำเสนอผ่านนิทรรศการดิจิทัล Visual Storytelling ที่ดูจบและเข้าใจในไม่กี่นาที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287768" y="1828800"/>
            <a:ext cx="1965960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424928" y="2011680"/>
            <a:ext cx="1691640" cy="822960"/>
          </a:xfrm>
          <a:prstGeom prst="roundRect">
            <a:avLst/>
          </a:prstGeom>
          <a:solidFill>
            <a:srgbClr val="D7F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F172A"/>
                </a:solidFill>
                <a:latin typeface="Consolas"/>
              </a:defRPr>
            </a:pPr>
            <a:r>
              <a:t>STEP 04</a:t>
            </a:r>
          </a:p>
          <a:p>
            <a:pPr algn="ctr">
              <a:defRPr sz="1300" b="1">
                <a:solidFill>
                  <a:srgbClr val="0F172A"/>
                </a:solidFill>
                <a:latin typeface="Segoe UI"/>
              </a:defRPr>
            </a:pPr>
            <a:r>
              <a:t>CONNECT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79208" y="2926080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11827"/>
                </a:solidFill>
                <a:latin typeface="Leelawadee UI"/>
              </a:defRPr>
            </a:pPr>
            <a:r>
              <a:t>เชื่อมโยงข้ามยุค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24928" y="3474720"/>
            <a:ext cx="16916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55556A"/>
                </a:solidFill>
                <a:latin typeface="Leelawadee UI"/>
              </a:defRPr>
            </a:pPr>
            <a:r>
              <a:t>เปิดชุดข้อมูลผ่าน Data Booming และ Interactive Graph ให้เห็นความเชื่อมโยงข้ามศาสตร์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473184" y="1828800"/>
            <a:ext cx="1965960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610344" y="2011680"/>
            <a:ext cx="1691640" cy="822960"/>
          </a:xfrm>
          <a:prstGeom prst="roundRect">
            <a:avLst/>
          </a:prstGeom>
          <a:solidFill>
            <a:srgbClr val="34E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F172A"/>
                </a:solidFill>
                <a:latin typeface="Consolas"/>
              </a:defRPr>
            </a:pPr>
            <a:r>
              <a:t>STEP 05</a:t>
            </a:r>
          </a:p>
          <a:p>
            <a:pPr algn="ctr">
              <a:defRPr sz="1300" b="1">
                <a:solidFill>
                  <a:srgbClr val="0F172A"/>
                </a:solidFill>
                <a:latin typeface="Segoe UI"/>
              </a:defRPr>
            </a:pPr>
            <a:r>
              <a:t>APPLY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64624" y="2926080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11827"/>
                </a:solidFill>
                <a:latin typeface="Leelawadee UI"/>
              </a:defRPr>
            </a:pPr>
            <a:r>
              <a:t>นำไปใช้จริง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10344" y="3474720"/>
            <a:ext cx="16916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55556A"/>
                </a:solidFill>
                <a:latin typeface="Leelawadee UI"/>
              </a:defRPr>
            </a:pPr>
            <a:r>
              <a:t>ปิดท้ายทุกนิทรรศการด้วยการ์ด 'Everyday Takeaway' วิธีนำไปใช้ในชีวิตประจำวัน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7F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390" y="0"/>
            <a:ext cx="6096304" cy="73152"/>
          </a:xfrm>
          <a:prstGeom prst="rect">
            <a:avLst/>
          </a:prstGeom>
          <a:solidFill>
            <a:srgbClr val="8C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320040"/>
            <a:ext cx="2926080" cy="292608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D7FF3A"/>
                </a:solidFill>
                <a:latin typeface="Consolas"/>
              </a:defRPr>
            </a:pPr>
            <a:r>
              <a:t>SPECIMEN // GRM-2026-CIT-007 • TARGET CITIZENS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827"/>
                </a:solidFill>
                <a:latin typeface="Segoe UI"/>
              </a:defRPr>
            </a:pPr>
            <a:r>
              <a:t>กลุ่มเป้าหมายและผลลัพธ์เชิงสังคม (Citizen Personas)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5556A"/>
                </a:solidFill>
                <a:latin typeface="Leelawadee UI"/>
              </a:defRPr>
            </a:pPr>
            <a:r>
              <a:t>ออกแบบเจาะลึก 3 กลุ่มคนทำงานและคนรุ่นใหม่: 'อยากรู้ลึก แต่ไม่อยากรู้สึกเหมือนนั่งเรียน'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37360"/>
            <a:ext cx="3383280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737360"/>
            <a:ext cx="3383280" cy="548640"/>
          </a:xfrm>
          <a:prstGeom prst="rect">
            <a:avLst/>
          </a:prstGeom>
          <a:solidFill>
            <a:srgbClr val="FF5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Leelawadee UI"/>
              </a:defRPr>
            </a:pPr>
            <a:r>
              <a:t>Curious Starter (อายุ 22–27 ปี)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377440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55556A"/>
                </a:solidFill>
                <a:latin typeface="Leelawadee UI"/>
              </a:defRPr>
            </a:pPr>
            <a:r>
              <a:t>นักศึกษาจบใหม่ / First Jobber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834640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111827"/>
                </a:solidFill>
                <a:latin typeface="Leelawadee UI"/>
              </a:defRPr>
            </a:pPr>
            <a:r>
              <a:t>• ใช้อุปกรณ์มือถือเป็นหลัก เสพข้อมูลเร็ว</a:t>
            </a:r>
          </a:p>
          <a:p>
            <a:pPr>
              <a:defRPr sz="1050">
                <a:solidFill>
                  <a:srgbClr val="111827"/>
                </a:solidFill>
                <a:latin typeface="Leelawadee UI"/>
              </a:defRPr>
            </a:pPr>
            <a:r>
              <a:t>• ชื่นชอบ Visual สวยงามที่แชร์ลงโซเชียลมีเดียได้ทันที</a:t>
            </a:r>
          </a:p>
          <a:p>
            <a:pPr>
              <a:defRPr sz="1050">
                <a:solidFill>
                  <a:srgbClr val="111827"/>
                </a:solidFill>
                <a:latin typeface="Leelawadee UI"/>
              </a:defRPr>
            </a:pPr>
            <a:r>
              <a:t>• ต้องการสรุปจบใน 3–5 นาที</a:t>
            </a:r>
          </a:p>
          <a:p>
            <a:pPr>
              <a:defRPr sz="1050">
                <a:solidFill>
                  <a:srgbClr val="111827"/>
                </a:solidFill>
                <a:latin typeface="Leelawadee UI"/>
              </a:defRPr>
            </a:pPr>
            <a:r>
              <a:t>• ส่งมอบการ์ดความรู้ 1080×1350 px ประจำวัน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737360"/>
            <a:ext cx="3383280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1737360"/>
            <a:ext cx="3383280" cy="548640"/>
          </a:xfrm>
          <a:prstGeom prst="rect">
            <a:avLst/>
          </a:prstGeom>
          <a:solidFill>
            <a:srgbClr val="8C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Leelawadee UI"/>
              </a:defRPr>
            </a:pPr>
            <a:r>
              <a:t>Creative Professional (อายุ 25–34 ปี)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377440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55556A"/>
                </a:solidFill>
                <a:latin typeface="Leelawadee UI"/>
              </a:defRPr>
            </a:pPr>
            <a:r>
              <a:t>ครีเอเตอร์ / ดีไซเนอร์ / นักการตลาด / นักพัฒนา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834640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111827"/>
                </a:solidFill>
                <a:latin typeface="Leelawadee UI"/>
              </a:defRPr>
            </a:pPr>
            <a:r>
              <a:t>• ค้นหาไอเดีย แรงบันดาลใจ และข้อมูลอ้างอิงที่แม่นยำ</a:t>
            </a:r>
          </a:p>
          <a:p>
            <a:pPr>
              <a:defRPr sz="1050">
                <a:solidFill>
                  <a:srgbClr val="111827"/>
                </a:solidFill>
                <a:latin typeface="Leelawadee UI"/>
              </a:defRPr>
            </a:pPr>
            <a:r>
              <a:t>• ต้องการระบบ Interactive Graph แบบเจาะลึก</a:t>
            </a:r>
          </a:p>
          <a:p>
            <a:pPr>
              <a:defRPr sz="1050">
                <a:solidFill>
                  <a:srgbClr val="111827"/>
                </a:solidFill>
                <a:latin typeface="Leelawadee UI"/>
              </a:defRPr>
            </a:pPr>
            <a:r>
              <a:t>• บันทึกคอลเลกชันส่วนตัวเพื่อทำงานวิจัย</a:t>
            </a:r>
          </a:p>
          <a:p>
            <a:pPr>
              <a:defRPr sz="1050">
                <a:solidFill>
                  <a:srgbClr val="111827"/>
                </a:solidFill>
                <a:latin typeface="Leelawadee UI"/>
              </a:defRPr>
            </a:pPr>
            <a:r>
              <a:t>• ดาวน์โหลด Open Dataset ต่อยอดสร้างมูลค่าทางเศรษฐกิจ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737360"/>
            <a:ext cx="3383280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20" y="1737360"/>
            <a:ext cx="3383280" cy="548640"/>
          </a:xfrm>
          <a:prstGeom prst="rect">
            <a:avLst/>
          </a:prstGeom>
          <a:solidFill>
            <a:srgbClr val="2E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F172A"/>
                </a:solidFill>
                <a:latin typeface="Leelawadee UI"/>
              </a:defRPr>
            </a:pPr>
            <a:r>
              <a:t>Lifelong Learner (อายุ 30–40 ปี)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377440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55556A"/>
                </a:solidFill>
                <a:latin typeface="Leelawadee UI"/>
              </a:defRPr>
            </a:pPr>
            <a:r>
              <a:t>คนทำงาน / พ่อแม่ยุคใหม่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2834640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111827"/>
                </a:solidFill>
                <a:latin typeface="Leelawadee UI"/>
              </a:defRPr>
            </a:pPr>
            <a:r>
              <a:t>• สนใจที่มาของสิ่งรอบตัว เช่น อาหาร สุขภาพ และภูมิปัญญา</a:t>
            </a:r>
          </a:p>
          <a:p>
            <a:pPr>
              <a:defRPr sz="1050">
                <a:solidFill>
                  <a:srgbClr val="111827"/>
                </a:solidFill>
                <a:latin typeface="Leelawadee UI"/>
              </a:defRPr>
            </a:pPr>
            <a:r>
              <a:t>• ต้องการความน่าเชื่อถือและการตรวจสอบแหล่งที่มาได้</a:t>
            </a:r>
          </a:p>
          <a:p>
            <a:pPr>
              <a:defRPr sz="1050">
                <a:solidFill>
                  <a:srgbClr val="111827"/>
                </a:solidFill>
                <a:latin typeface="Leelawadee UI"/>
              </a:defRPr>
            </a:pPr>
            <a:r>
              <a:t>• ต้องการตัวอักษรที่อ่านสบายตา (Accessible)</a:t>
            </a:r>
          </a:p>
          <a:p>
            <a:pPr>
              <a:defRPr sz="1050">
                <a:solidFill>
                  <a:srgbClr val="111827"/>
                </a:solidFill>
                <a:latin typeface="Leelawadee UI"/>
              </a:defRPr>
            </a:pPr>
            <a:r>
              <a:t>• ต้องการการ์ด Everyday Takeaway ไปประยุกต์ใช้ในครอบครัว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5806440"/>
            <a:ext cx="10698480" cy="640080"/>
          </a:xfrm>
          <a:prstGeom prst="roundRect">
            <a:avLst/>
          </a:prstGeom>
          <a:solidFill>
            <a:srgbClr val="F3EFE6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11827"/>
                </a:solidFill>
                <a:latin typeface="Leelawadee UI"/>
              </a:defRPr>
            </a:pPr>
            <a:r>
              <a:t>📱 มาตรฐานการพัฒนา: ออกแบบ Mobile-First 100%, โหลดเร็วภายใน 1.5 วินาที, แหล่งอ้างอิงเปิดดูได้ในคลิกเดียว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7F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390" y="0"/>
            <a:ext cx="6096304" cy="73152"/>
          </a:xfrm>
          <a:prstGeom prst="rect">
            <a:avLst/>
          </a:prstGeom>
          <a:solidFill>
            <a:srgbClr val="8C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320040"/>
            <a:ext cx="2926080" cy="292608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D7FF3A"/>
                </a:solidFill>
                <a:latin typeface="Consolas"/>
              </a:defRPr>
            </a:pPr>
            <a:r>
              <a:t>SPECIMEN // GRM-2026-DEV-008 • TECH &amp; ROADMAP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827"/>
                </a:solidFill>
                <a:latin typeface="Segoe UI"/>
              </a:defRPr>
            </a:pPr>
            <a:r>
              <a:t>สถาปัตยกรรมทางเทคนิค &amp; แผนปฏิบัติการ Google Antigravity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5556A"/>
                </a:solidFill>
                <a:latin typeface="Leelawadee UI"/>
              </a:defRPr>
            </a:pPr>
            <a:r>
              <a:t>การผสานสแต็กเทคโนโลยีประสิทธิภาพสูงเข้ากับระบบการพัฒนาอัตโนมัติ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37360"/>
            <a:ext cx="521208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8C6BFF"/>
                </a:solidFill>
                <a:latin typeface="Consolas"/>
              </a:defRPr>
            </a:pPr>
            <a:r>
              <a:t>CORE TECHNICAL SPECIFICATION</a:t>
            </a:r>
          </a:p>
          <a:p>
            <a:pPr>
              <a:defRPr sz="1050" b="1">
                <a:solidFill>
                  <a:srgbClr val="111827"/>
                </a:solidFill>
                <a:latin typeface="Leelawadee UI"/>
              </a:defRPr>
            </a:pPr>
            <a:r>
              <a:t>• Front-end Framework: Next.js 14+ (App Router) + TypeScript + Tailwind CSS</a:t>
            </a:r>
          </a:p>
          <a:p>
            <a:pPr>
              <a:defRPr sz="950">
                <a:solidFill>
                  <a:srgbClr val="55556A"/>
                </a:solidFill>
                <a:latin typeface="Leelawadee UI"/>
              </a:defRPr>
            </a:pPr>
            <a:r>
              <a:t>   โครงสร้างที่รวดเร็ว รองรับ SEO และมีประสิทธิภาพสูงสุด</a:t>
            </a:r>
          </a:p>
          <a:p>
            <a:pPr>
              <a:defRPr sz="1050" b="1">
                <a:solidFill>
                  <a:srgbClr val="111827"/>
                </a:solidFill>
                <a:latin typeface="Leelawadee UI"/>
              </a:defRPr>
            </a:pPr>
            <a:r>
              <a:t>• Graph Visualization: D3.js (d3-force) เรนเดอร์บน Canvas 2D/WebGL</a:t>
            </a:r>
          </a:p>
          <a:p>
            <a:pPr>
              <a:defRPr sz="950">
                <a:solidFill>
                  <a:srgbClr val="55556A"/>
                </a:solidFill>
                <a:latin typeface="Leelawadee UI"/>
              </a:defRPr>
            </a:pPr>
            <a:r>
              <a:t>   รองรับโหนดพร้อมกันกว่า 10,000 โหนด ลื่นไหล 60 FPS</a:t>
            </a:r>
          </a:p>
          <a:p>
            <a:pPr>
              <a:defRPr sz="1050" b="1">
                <a:solidFill>
                  <a:srgbClr val="111827"/>
                </a:solidFill>
                <a:latin typeface="Leelawadee UI"/>
              </a:defRPr>
            </a:pPr>
            <a:r>
              <a:t>• Design Tokens &amp; HUD: Chakra Petch (หัวข้อ), IBM Plex Sans Thai (เนื้อหา), IBM Plex Mono</a:t>
            </a:r>
          </a:p>
          <a:p>
            <a:pPr>
              <a:defRPr sz="950">
                <a:solidFill>
                  <a:srgbClr val="55556A"/>
                </a:solidFill>
                <a:latin typeface="Leelawadee UI"/>
              </a:defRPr>
            </a:pPr>
            <a:r>
              <a:t>   การ์ดตัดมุม HUD 45° (clip-path 12px) สไตล์ห้องแล็บ</a:t>
            </a:r>
          </a:p>
          <a:p>
            <a:pPr>
              <a:defRPr sz="1050" b="1">
                <a:solidFill>
                  <a:srgbClr val="111827"/>
                </a:solidFill>
                <a:latin typeface="Leelawadee UI"/>
              </a:defRPr>
            </a:pPr>
            <a:r>
              <a:t>• Accessibility Standards: WCAG AA Compliance (คอนทราสต์ &gt; 4.5:1 / 7:1)</a:t>
            </a:r>
          </a:p>
          <a:p>
            <a:pPr>
              <a:defRPr sz="950">
                <a:solidFill>
                  <a:srgbClr val="55556A"/>
                </a:solidFill>
                <a:latin typeface="Leelawadee UI"/>
              </a:defRPr>
            </a:pPr>
            <a:r>
              <a:t>   สลับโหมดสว่าง-มืดอัตโนมัติ มี fallback สำหรับ prefers-reduced-motion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37360"/>
            <a:ext cx="5212080" cy="466344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7FF3A"/>
                </a:solidFill>
                <a:latin typeface="Consolas"/>
              </a:defRPr>
            </a:pPr>
            <a:r>
              <a:t>ANTIGRAVITY 4-PHASE AGILE ROADMAP</a:t>
            </a:r>
          </a:p>
          <a:p>
            <a:pPr>
              <a:defRPr sz="1100" b="1">
                <a:solidFill>
                  <a:srgbClr val="D7FF3A"/>
                </a:solidFill>
                <a:latin typeface="Leelawadee UI"/>
              </a:defRPr>
            </a:pPr>
            <a:r>
              <a:t>▶ Sprint 1: Design Tokens &amp; Style Guide</a:t>
            </a:r>
          </a:p>
          <a:p>
            <a:pPr>
              <a:defRPr sz="950">
                <a:solidFill>
                  <a:srgbClr val="CBD5E1"/>
                </a:solidFill>
                <a:latin typeface="Leelawadee UI"/>
              </a:defRPr>
            </a:pPr>
            <a:r>
              <a:t>   สร้างโทเคนสี ฟอนต์ การ์ดตัดมุม HUD และหน้า Style Guide ทดสอบความคมชัด WCAG</a:t>
            </a:r>
          </a:p>
          <a:p>
            <a:pPr>
              <a:defRPr sz="1100" b="1">
                <a:solidFill>
                  <a:srgbClr val="D7FF3A"/>
                </a:solidFill>
                <a:latin typeface="Leelawadee UI"/>
              </a:defRPr>
            </a:pPr>
            <a:r>
              <a:t>▶ Sprint 2: Components &amp; Ingestion Engine</a:t>
            </a:r>
          </a:p>
          <a:p>
            <a:pPr>
              <a:defRPr sz="950">
                <a:solidFill>
                  <a:srgbClr val="CBD5E1"/>
                </a:solidFill>
                <a:latin typeface="Leelawadee UI"/>
              </a:defRPr>
            </a:pPr>
            <a:r>
              <a:t>   พัฒนาคอมโพเนนต์ Data Booming และระบบนำเข้าข้อมูลดิบจากฐานข้อมูลภาครัฐ</a:t>
            </a:r>
          </a:p>
          <a:p>
            <a:pPr>
              <a:defRPr sz="1100" b="1">
                <a:solidFill>
                  <a:srgbClr val="D7FF3A"/>
                </a:solidFill>
                <a:latin typeface="Leelawadee UI"/>
              </a:defRPr>
            </a:pPr>
            <a:r>
              <a:t>▶ Sprint 3: Thematic Halls &amp; Visual Pages</a:t>
            </a:r>
          </a:p>
          <a:p>
            <a:pPr>
              <a:defRPr sz="950">
                <a:solidFill>
                  <a:srgbClr val="CBD5E1"/>
                </a:solidFill>
                <a:latin typeface="Leelawadee UI"/>
              </a:defRPr>
            </a:pPr>
            <a:r>
              <a:t>   เปิดหน้าหลัก Home, HALL 01 Exhibitions, Everyday Lab และหน้า About</a:t>
            </a:r>
          </a:p>
          <a:p>
            <a:pPr>
              <a:defRPr sz="1100" b="1">
                <a:solidFill>
                  <a:srgbClr val="D7FF3A"/>
                </a:solidFill>
                <a:latin typeface="Leelawadee UI"/>
              </a:defRPr>
            </a:pPr>
            <a:r>
              <a:t>▶ Sprint 4: Full Graph &amp; Sovereign AI API</a:t>
            </a:r>
          </a:p>
          <a:p>
            <a:pPr>
              <a:defRPr sz="950">
                <a:solidFill>
                  <a:srgbClr val="CBD5E1"/>
                </a:solidFill>
                <a:latin typeface="Leelawadee UI"/>
              </a:defRPr>
            </a:pPr>
            <a:r>
              <a:t>   เชื่อมต่อ Force-directed Graph ฉบับเต็ม พร้อมเปิด REST/GraphQL API สู่สาธารณะ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7F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390" y="0"/>
            <a:ext cx="6096304" cy="73152"/>
          </a:xfrm>
          <a:prstGeom prst="rect">
            <a:avLst/>
          </a:prstGeom>
          <a:solidFill>
            <a:srgbClr val="8C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320040"/>
            <a:ext cx="2926080" cy="292608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D7FF3A"/>
                </a:solidFill>
                <a:latin typeface="Consolas"/>
              </a:defRPr>
            </a:pPr>
            <a:r>
              <a:t>SPECIMEN // GRM-2026-GOV-009 • POLICY &amp; NEXT 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827"/>
                </a:solidFill>
                <a:latin typeface="Segoe UI"/>
              </a:defRPr>
            </a:pPr>
            <a:r>
              <a:t>ผลประโยชน์ระดับชาติและการขับเคลื่อนเชิงนโยบาย (National Impact)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5556A"/>
                </a:solidFill>
                <a:latin typeface="Leelawadee UI"/>
              </a:defRPr>
            </a:pPr>
            <a:r>
              <a:t>ข้อเสนอแนะเพื่อการพิจารณาของ ฯพณฯ รัฐมนตรีว่าการกระทรวงดิจิทัลเพื่อเศรษฐกิจและสังคม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37360"/>
            <a:ext cx="3383280" cy="2743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2EE6FF"/>
                </a:solidFill>
                <a:latin typeface="Consolas"/>
              </a:defRPr>
            </a:pPr>
            <a:r>
              <a:t>1. SOVEREIGN AI FOUNDATION</a:t>
            </a:r>
          </a:p>
          <a:p>
            <a:pPr>
              <a:defRPr sz="1250" b="1">
                <a:solidFill>
                  <a:srgbClr val="111827"/>
                </a:solidFill>
                <a:latin typeface="Segoe UI"/>
              </a:defRPr>
            </a:pPr>
            <a:r>
              <a:t>ฐานข้อมูลความรู้ภาษาไทยเพื่อ AI ชาติ</a:t>
            </a:r>
          </a:p>
          <a:p>
            <a:pPr>
              <a:defRPr sz="1000">
                <a:solidFill>
                  <a:srgbClr val="55556A"/>
                </a:solidFill>
                <a:latin typeface="Leelawadee UI"/>
              </a:defRPr>
            </a:pPr>
            <a:r>
              <a:t>สร้างคลัง Knowledge Graph คุณภาพสูงที่มีการระบุแหล่งที่มา 100% เพื่อใช้ Fine-tune และ Grounding โมเดลปัญญาประดิษฐ์สัญชาติไทย ป้องกันปัญหา AI Hallucination ด้านประวัติศาสตร์และภูมิปัญญา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737360"/>
            <a:ext cx="3383280" cy="2743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FF5A1F"/>
                </a:solidFill>
                <a:latin typeface="Consolas"/>
              </a:defRPr>
            </a:pPr>
            <a:r>
              <a:t>2. DIGITAL SOFT POWER</a:t>
            </a:r>
          </a:p>
          <a:p>
            <a:pPr>
              <a:defRPr sz="1250" b="1">
                <a:solidFill>
                  <a:srgbClr val="111827"/>
                </a:solidFill>
                <a:latin typeface="Segoe UI"/>
              </a:defRPr>
            </a:pPr>
            <a:r>
              <a:t>ส่งออกภูมิปัญญาไทยสู่เวทีสากล</a:t>
            </a:r>
          </a:p>
          <a:p>
            <a:pPr>
              <a:defRPr sz="1000">
                <a:solidFill>
                  <a:srgbClr val="55556A"/>
                </a:solidFill>
                <a:latin typeface="Leelawadee UI"/>
              </a:defRPr>
            </a:pPr>
            <a:r>
              <a:t>ยกระดับข้อมูลศิลปวัฒนธรรม ชุมชน และประวัติศาสตร์ไทยสู่มาตรฐานสากลในรูปแบบ Visual Storytelling แปล 2 ภาษา พร้อมเปิดให้พิพิธภัณฑ์ทั่วโลกเชื่อมโยงข้อมูล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737360"/>
            <a:ext cx="3383280" cy="2743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8C6BFF"/>
                </a:solidFill>
                <a:latin typeface="Consolas"/>
              </a:defRPr>
            </a:pPr>
            <a:r>
              <a:t>3. CREATIVE ECONOMY HUB</a:t>
            </a:r>
          </a:p>
          <a:p>
            <a:pPr>
              <a:defRPr sz="1250" b="1">
                <a:solidFill>
                  <a:srgbClr val="111827"/>
                </a:solidFill>
                <a:latin typeface="Segoe UI"/>
              </a:defRPr>
            </a:pPr>
            <a:r>
              <a:t>ต่อยอดเศรษฐกิจสร้างสรรค์และสตาร์ทอัพ</a:t>
            </a:r>
          </a:p>
          <a:p>
            <a:pPr>
              <a:defRPr sz="1000">
                <a:solidFill>
                  <a:srgbClr val="55556A"/>
                </a:solidFill>
                <a:latin typeface="Leelawadee UI"/>
              </a:defRPr>
            </a:pPr>
            <a:r>
              <a:t>เปิด Open Knowledge API ให้นักออกแบบ ครีเอเตอร์ ผู้พัฒนาซอฟต์แวร์ และสตาร์ทอัพไทย นำชุดข้อมูลไปพัฒนาเกม แอปพลิเคชัน หรือผลิตภัณฑ์มูลค่าสูง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663440"/>
            <a:ext cx="10698480" cy="173736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1">
                <a:solidFill>
                  <a:srgbClr val="D7FF3A"/>
                </a:solidFill>
                <a:latin typeface="Consolas"/>
              </a:defRPr>
            </a:pPr>
            <a:r>
              <a:t>ข้อพิจารณาเพื่อการสนับสนุนและอนุมัติ (RECOMMENDED DECISIONS):</a:t>
            </a:r>
          </a:p>
          <a:p>
            <a:pPr>
              <a:defRPr sz="1100" b="1">
                <a:solidFill>
                  <a:srgbClr val="FFFFFF"/>
                </a:solidFill>
                <a:latin typeface="Leelawadee UI"/>
              </a:defRPr>
            </a:pPr>
            <a:r>
              <a:t>1. เห็นชอบในหลักการจัดตั้งโครงการนำร่อง 'GRURU MUSEUM: National Digital Knowledge Infrastructure'</a:t>
            </a:r>
          </a:p>
          <a:p>
            <a:pPr>
              <a:defRPr sz="1100" b="1">
                <a:solidFill>
                  <a:srgbClr val="FFFFFF"/>
                </a:solidFill>
                <a:latin typeface="Leelawadee UI"/>
              </a:defRPr>
            </a:pPr>
            <a:r>
              <a:t>2. บรรจุโครงการเข้าสู่แผนงานเร่งด่วนด้านโครงสร้างพื้นฐานดิจิทัลและเศรษฐกิจสร้างสรรค์ ประจำปีงบประมาณ 2026</a:t>
            </a:r>
          </a:p>
          <a:p>
            <a:pPr>
              <a:defRPr sz="1100" b="1">
                <a:solidFill>
                  <a:srgbClr val="FFFFFF"/>
                </a:solidFill>
                <a:latin typeface="Leelawadee UI"/>
              </a:defRPr>
            </a:pPr>
            <a:r>
              <a:t>3. อนุมัติการเชื่อมโยงฐานข้อมูลเปิดจากหน่วยงานในกำกับดูแล (สพธอ., สรอ., ดีป้า, หอจดหมายเหตุ) เพื่อร่วมสร้างเครือข่ายความรู้แรกเริ่ม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